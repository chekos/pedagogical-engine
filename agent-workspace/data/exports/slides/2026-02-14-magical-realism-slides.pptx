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this slide up as students settle in. Mr. Sanchez introduces you. When he finishes, thank him, smile at the class, and deliver your one-sentence contract: 'By the end of this period, you're going to be able to spot magical realism in any passage someone puts in front of you.'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this piece by piece. Pause between each line. Give the concrete example from Cien años de soledad — a character ascends to heaven while hanging laundry. The narrator describes it the same way you'd describe someone going to the store. That flat, matter-of-fact tone is the signature.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~2 minutes per device with a concrete example from García Márquez or Esquivel. If running behind by minute 16, cut devices 4 and 5 to one sentence each. The passage walkthrough will reinforce these devices through the text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quick aside — 1-2 minutes max. Plant the seed; students will develop the distinction further throughout the AP course. If a student asks about non-Latin American magical realism (Rushdie, Morrison, Murakami), give a 30-second acknowledgment and refocus.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stays up during the passage walkthrough. Students refer back to these questions as they analyze the Esquivel excerpt. Walk through each question with the passage: first find the impossible thing, then examine the narrator's tone, then name the devices.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Magical Realism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i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Latin American Literature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880360"/>
            <a:ext cx="32004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Definition to Recognition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Lecture — AP Spanish Literature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Magical Realism?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literary </a:t>
            </a:r>
            <a:pPr indent="0" marL="0">
              <a:buNone/>
            </a:pPr>
            <a:r>
              <a:rPr lang="en-US" sz="2200" b="1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...where supernatural, fantastical, or mythical elements are woven into an otherwise realistic narrative...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...and the characters treat the magic as completely normal.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291840"/>
            <a:ext cx="7680960" cy="10972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3291840"/>
            <a:ext cx="54864" cy="10972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38328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pPr indent="0" marL="0">
              <a:buNone/>
            </a:pPr>
            <a:r>
              <a:rPr lang="en-US" sz="1700" i="1" dirty="0">
                <a:solidFill>
                  <a:srgbClr val="FFF8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freaks out. Nobody says 'that's impossible.'</a:t>
            </a:r>
            <a:endParaRPr lang="en-US" sz="4000" dirty="0"/>
          </a:p>
          <a:p>
            <a:pPr indent="0" marL="0">
              <a:buNone/>
            </a:pPr>
            <a:r>
              <a:rPr lang="en-US" sz="1700" i="1" dirty="0">
                <a:solidFill>
                  <a:srgbClr val="FFF8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magic is just... Tuesday.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 on the Page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621792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161288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161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097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C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Matter-of-Fact Narration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1371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narrator describes the impossible as ordinary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764792"/>
            <a:ext cx="7680960" cy="621792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1874520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1810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C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Mythic or Circular Time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54480" y="20848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and future collapse; time loops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2478024"/>
            <a:ext cx="7680960" cy="621792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258775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252374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C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/ Enchanted Objects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279806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objects carry supernatural weight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191256"/>
            <a:ext cx="7680960" cy="621792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" y="3300984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3300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323697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C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Overload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54480" y="351129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Lush, dense prose that makes magic feel physical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1520" y="3904488"/>
            <a:ext cx="7680960" cy="621792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5" name="Shape 23"/>
          <p:cNvSpPr/>
          <p:nvPr/>
        </p:nvSpPr>
        <p:spPr>
          <a:xfrm>
            <a:off x="960120" y="4014216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40142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39502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C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Supernatural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554480" y="4224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magic is never explained. It just is.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Magical Realism Is NOT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3566160" cy="265176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35661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≠ </a:t>
            </a:r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</a:rPr>
              <a:t>Fantasy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Fantasy has rules, a magic system, a separate world.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Magical realism has no rules — magic is embedded in THIS world.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566160" cy="265176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188720"/>
            <a:ext cx="356616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417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3"/>
                </a:solidFill>
              </a:rPr>
              <a:t>≠ </a:t>
            </a:r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</a:rPr>
              <a:t>Surrealism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120640" y="20116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Surrealism is dreamlike and disorienting.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Magical realism is grounded and matter-of-fact. The narrator is not surprised.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Magical Realism Detector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097280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691640" y="109728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something impossible happen?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2176272"/>
            <a:ext cx="7680960" cy="9144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176272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176272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691640" y="2176272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narrator treat it?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(Amazed or matter-of-fact?)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3255264"/>
            <a:ext cx="7680960" cy="9144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255264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255264"/>
            <a:ext cx="548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691640" y="3255264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specific devices can you identify?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1520" y="4434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 three questions on ANY passage.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Magical Realism in Latin American Literature</dc:title>
  <dc:subject>PptxGenJS Presentation</dc:subject>
  <dc:creator>Pedagogical Reasoning Engine</dc:creator>
  <cp:lastModifiedBy>Pedagogical Reasoning Engine</cp:lastModifiedBy>
  <cp:revision>1</cp:revision>
  <dcterms:created xsi:type="dcterms:W3CDTF">2026-02-14T21:27:19Z</dcterms:created>
  <dcterms:modified xsi:type="dcterms:W3CDTF">2026-02-14T21:27:19Z</dcterms:modified>
</cp:coreProperties>
</file>